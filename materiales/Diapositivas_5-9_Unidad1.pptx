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4 HORAS · VIRTUAL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la Computación en la Nube y Modelo de Seguridad de AWS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bases: qué cambia (y qué no) al mover cargas de trabajo a la nube, y quién responde por qué.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989320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0E3E4E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98932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horas de curso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59736" y="598932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E3E4E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9736" y="59893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unidades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03320" y="5989320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0E3E4E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598932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híbrida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822960"/>
            <a:ext cx="4206240" cy="5212080"/>
          </a:xfrm>
          <a:prstGeom prst="roundRect">
            <a:avLst>
              <a:gd name="adj" fmla="val 3043"/>
            </a:avLst>
          </a:prstGeom>
          <a:solidFill>
            <a:srgbClr val="123F50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9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UNIDAD, VAS A PODER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691640"/>
            <a:ext cx="384048" cy="384048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14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727" y="1745407"/>
            <a:ext cx="276515" cy="27651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0" y="1645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Modelo de Responsabilidad Compartida entre AWS y el cliente.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680960" y="2715768"/>
            <a:ext cx="384048" cy="384048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17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727" y="2769535"/>
            <a:ext cx="276515" cy="27651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9600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beneficios de la nube y su impacto en la postura de seguridad.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80960" y="3739896"/>
            <a:ext cx="384048" cy="384048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20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727" y="3793663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69417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pilar de Seguridad del AWS Well-Architected Framework.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680960" y="4764024"/>
            <a:ext cx="384048" cy="384048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23" name="Image 3" descr="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727" y="4817791"/>
            <a:ext cx="276515" cy="27651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0" y="471830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controles básicos de acceso (IAM) y una VPC inicial.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· UNIDAD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Responsabilidad Compartida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0E3E4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6" name="Image 0" descr="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490" y="199961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56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la seguridad "DE" la nube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Infraestructura global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3447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Hardware físico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831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Capa de virtualización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920240"/>
            <a:ext cx="566928" cy="566928"/>
          </a:xfrm>
          <a:prstGeom prst="ellipse">
            <a:avLst/>
          </a:prstGeom>
          <a:solidFill>
            <a:srgbClr val="147F9C"/>
          </a:solidFill>
          <a:ln/>
        </p:spPr>
      </p:sp>
      <p:pic>
        <p:nvPicPr>
          <p:cNvPr id="14" name="Image 1" descr="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610" y="1999610"/>
            <a:ext cx="408188" cy="4081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9568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la seguridad "EN" la nube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IAM y control de acceso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92240" y="3447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Cifrado de datos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92240" y="38313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Configuración de red y de aplicaciones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" y="470916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BEADA"/>
          </a:solidFill>
          <a:ln/>
        </p:spPr>
      </p:sp>
      <p:sp>
        <p:nvSpPr>
          <p:cNvPr id="21" name="Shape 17"/>
          <p:cNvSpPr/>
          <p:nvPr/>
        </p:nvSpPr>
        <p:spPr>
          <a:xfrm>
            <a:off x="932688" y="5001768"/>
            <a:ext cx="822960" cy="822960"/>
          </a:xfrm>
          <a:prstGeom prst="ellipse">
            <a:avLst/>
          </a:prstGeom>
          <a:solidFill>
            <a:srgbClr val="E98B3A"/>
          </a:solidFill>
          <a:ln/>
        </p:spPr>
      </p:sp>
      <p:pic>
        <p:nvPicPr>
          <p:cNvPr id="22" name="Image 2" descr="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2" y="5116982"/>
            <a:ext cx="592531" cy="5925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65960" y="48920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Well-Architected Framework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965960" y="52578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pilares para diseñar cargas de trabajo confiables y seguras — el curso profundiza en el pilar de Seguridad: identidad y acceso, detección, protección de infraestructura y de datos, y respuesta a incidentes.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· UNIDAD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precios de AWS: de CapEx a OpEx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47F9C"/>
          </a:solidFill>
          <a:ln/>
        </p:spPr>
      </p:sp>
      <p:pic>
        <p:nvPicPr>
          <p:cNvPr id="5" name="Image 0" descr="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167060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00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cambia la inversión fija en hardware (CapEx) por gasto operativo variable (OpEx): se paga solo por lo que se consume. Economías de escala, elasticidad y distintas opciones de compra permiten reducir el costo total de propiedad sin sacrificar capacidad.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0E3E4E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17830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4652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ahorro con Savings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e Instancias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Reservadas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0" y="160020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0" y="17830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14400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ahorro con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Spot para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tolerantes a fallos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160520"/>
            <a:ext cx="10881360" cy="2057400"/>
          </a:xfrm>
          <a:prstGeom prst="roundRect">
            <a:avLst>
              <a:gd name="adj" fmla="val 5333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" y="4453128"/>
            <a:ext cx="822960" cy="822960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15" name="Image 1" descr="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02" y="4568342"/>
            <a:ext cx="592531" cy="59253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65960" y="43891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de la nube y su impacto en seguridad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965960" y="475488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Elasticidad, agilidad y pago por uso no son solo ventajas operativas: cada una exige un tipo distinto de control de seguridad que escale con ella. Escalar automáticamente sin sobredimensionar elimina, además, el riesgo financiero de pagar por capacidad ociosa.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· UNIDAD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global y optimización de costos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92808"/>
            <a:ext cx="566928" cy="566928"/>
          </a:xfrm>
          <a:prstGeom prst="ellipse">
            <a:avLst/>
          </a:prstGeom>
          <a:solidFill>
            <a:srgbClr val="147F9C"/>
          </a:solidFill>
          <a:ln/>
        </p:spPr>
      </p:sp>
      <p:pic>
        <p:nvPicPr>
          <p:cNvPr id="6" name="Image 0" descr="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058" y="1972178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Regiones y Zonas de Disponibilidad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514600"/>
            <a:ext cx="4672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Región agrupa varias AZ — centros de datos aislados e interconectados por fibra de baja latencia. Se despliega en 2–3 AZ para alta disponibilidad.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6248" y="1892808"/>
            <a:ext cx="566928" cy="566928"/>
          </a:xfrm>
          <a:prstGeom prst="ellipse">
            <a:avLst/>
          </a:prstGeom>
          <a:solidFill>
            <a:srgbClr val="147F9C"/>
          </a:solidFill>
          <a:ln/>
        </p:spPr>
      </p:sp>
      <p:pic>
        <p:nvPicPr>
          <p:cNvPr id="11" name="Image 1" descr="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618" y="1972178"/>
            <a:ext cx="408188" cy="408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 de tamaño (rightsizing)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6248" y="2514600"/>
            <a:ext cx="4672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Compute Optimizer analiza el uso histórico con aprendizaje automático y recomienda el tamaño ideal — hasta 36% de ahorro.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407408"/>
            <a:ext cx="566928" cy="566928"/>
          </a:xfrm>
          <a:prstGeom prst="ellipse">
            <a:avLst/>
          </a:prstGeom>
          <a:solidFill>
            <a:srgbClr val="147F9C"/>
          </a:solidFill>
          <a:ln/>
        </p:spPr>
      </p:sp>
      <p:pic>
        <p:nvPicPr>
          <p:cNvPr id="16" name="Image 2" descr="gi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58" y="4486778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89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Gratuita de AWS (Free Tier)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" y="5029200"/>
            <a:ext cx="4672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de S3 y EBS sin costo, más herramientas siempre gratuitas: AWS Artifact, Well-Architected Tool y CodeWhisperer.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2F8F9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56248" y="4407408"/>
            <a:ext cx="566928" cy="566928"/>
          </a:xfrm>
          <a:prstGeom prst="ellipse">
            <a:avLst/>
          </a:prstGeom>
          <a:solidFill>
            <a:srgbClr val="147F9C"/>
          </a:solidFill>
          <a:ln/>
        </p:spPr>
      </p:sp>
      <p:pic>
        <p:nvPicPr>
          <p:cNvPr id="21" name="Image 3" descr="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618" y="4486778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389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de Optimización de Costos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6248" y="5029200"/>
            <a:ext cx="4672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el gasto en la nube, adoptar un modelo de consumo y medir la eficiencia con Cost Explorer, Budgets y Trusted Advisor.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 · UNIDAD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0E3E4E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457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VPC y control de acceso (IAM básico)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E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desplegar una VPC funcional y configurar el control de acceso a recursos de AWS aplicando el principio de mínimo privilegio.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67665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51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4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063240"/>
            <a:ext cx="384048" cy="384048"/>
          </a:xfrm>
          <a:prstGeom prst="ellipse">
            <a:avLst/>
          </a:prstGeom>
          <a:solidFill>
            <a:srgbClr val="147F9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304495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VPC con subredes pública y privada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685032"/>
            <a:ext cx="384048" cy="384048"/>
          </a:xfrm>
          <a:prstGeom prst="ellipse">
            <a:avLst/>
          </a:prstGeom>
          <a:solidFill>
            <a:srgbClr val="147F9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36667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Internet Gateway y tablas de enrutamiento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306824"/>
            <a:ext cx="384048" cy="384048"/>
          </a:xfrm>
          <a:prstGeom prst="ellipse">
            <a:avLst/>
          </a:prstGeom>
          <a:solidFill>
            <a:srgbClr val="147F9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428853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usuarios, grupos y roles de IAM para el equipo de trabajo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928616"/>
            <a:ext cx="384048" cy="384048"/>
          </a:xfrm>
          <a:prstGeom prst="ellipse">
            <a:avLst/>
          </a:prstGeom>
          <a:solidFill>
            <a:srgbClr val="147F9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81328" y="49103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y asociar una política de IAM de mínimo privilegio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5550408"/>
            <a:ext cx="384048" cy="384048"/>
          </a:xfrm>
          <a:prstGeom prst="ellipse">
            <a:avLst/>
          </a:prstGeom>
          <a:solidFill>
            <a:srgbClr val="147F9C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1328" y="55321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acceso mediante la consola y AWS CLI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35240" y="2423160"/>
            <a:ext cx="3886200" cy="3794760"/>
          </a:xfrm>
          <a:prstGeom prst="roundRect">
            <a:avLst>
              <a:gd name="adj" fmla="val 2892"/>
            </a:avLst>
          </a:prstGeom>
          <a:solidFill>
            <a:srgbClr val="0E3E4E"/>
          </a:solidFill>
          <a:ln/>
        </p:spPr>
      </p:sp>
      <p:sp>
        <p:nvSpPr>
          <p:cNvPr id="25" name="Shape 23"/>
          <p:cNvSpPr/>
          <p:nvPr/>
        </p:nvSpPr>
        <p:spPr>
          <a:xfrm>
            <a:off x="7936992" y="2697480"/>
            <a:ext cx="530352" cy="530352"/>
          </a:xfrm>
          <a:prstGeom prst="ellipse">
            <a:avLst/>
          </a:prstGeom>
          <a:solidFill>
            <a:srgbClr val="1A93B3"/>
          </a:solidFill>
          <a:ln/>
        </p:spPr>
      </p:sp>
      <p:pic>
        <p:nvPicPr>
          <p:cNvPr id="26" name="Image 0" descr="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241" y="2771729"/>
            <a:ext cx="381853" cy="38185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635240" y="3337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E9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09560" y="37947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123F50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3794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Management Console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909560" y="437083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123F50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09560" y="43708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909560" y="494690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123F50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09560" y="49469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909560" y="552297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123F50"/>
          </a:solidFill>
          <a:ln w="12700">
            <a:solidFill>
              <a:srgbClr val="2E617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2026-08-08T03:08:04Z</dcterms:created>
  <dcterms:modified xsi:type="dcterms:W3CDTF">2026-08-08T03:08:04Z</dcterms:modified>
</cp:coreProperties>
</file>